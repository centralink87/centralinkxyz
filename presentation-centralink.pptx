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3685032" cy="292608"/>
          </a:xfrm>
          <a:prstGeom prst="rect">
            <a:avLst/>
          </a:prstGeom>
          <a:solidFill>
            <a:srgbClr val="1A1A4E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042416"/>
            <a:ext cx="346557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A5B4FC"/>
                </a:solidFill>
                <a:latin typeface="Calibri"/>
              </a:rPr>
              <a:t>Plateforme Web · Fintech · Crypto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315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Central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1554480"/>
            <a:ext cx="3657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818CF8"/>
                </a:solidFill>
                <a:latin typeface="Calibri"/>
              </a:rPr>
              <a:t>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461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Gestion de portefeuille crypto pour investisseurs accompagnés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Application web sur-mesure — Nexum Capital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206240"/>
            <a:ext cx="54864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4348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75569"/>
                </a:solidFill>
                <a:latin typeface="Calibri"/>
              </a:rPr>
              <a:t>DÉVELOPPEUR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63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  <a:latin typeface="Calibri"/>
              </a:rPr>
              <a:t>Tom Tournier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4348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75569"/>
                </a:solidFill>
                <a:latin typeface="Calibri"/>
              </a:rPr>
              <a:t>FORMATION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663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  <a:latin typeface="Calibri"/>
              </a:rPr>
              <a:t>Master Développement Web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4348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75569"/>
                </a:solidFill>
                <a:latin typeface="Calibri"/>
              </a:rPr>
              <a:t>WORKSHOP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663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  <a:latin typeface="Calibri"/>
              </a:rPr>
              <a:t>Client 3 — Juillet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926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A2A5E"/>
                </a:solidFill>
                <a:latin typeface="Calibri"/>
              </a:rPr>
              <a:t>CENTRALINK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383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Déc. 2025 → Avr.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Symfony 8 · PostgreSQL · Railway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18CF8"/>
                </a:solidFill>
                <a:latin typeface="Calibri"/>
              </a:rPr>
              <a:t>01 — CONTEXTE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Un problème </a:t>
            </a:r>
            <a:r>
              <a:rPr sz="3800" b="1">
                <a:solidFill>
                  <a:srgbClr val="818CF8"/>
                </a:solidFill>
                <a:latin typeface="Calibri"/>
              </a:rPr>
              <a:t>concret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83080"/>
            <a:ext cx="11247120" cy="1280160"/>
          </a:xfrm>
          <a:prstGeom prst="rect">
            <a:avLst/>
          </a:prstGeom>
          <a:solidFill>
            <a:srgbClr val="151535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783080"/>
            <a:ext cx="54864" cy="12801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5B4FC"/>
                </a:solidFill>
                <a:latin typeface="Calibri"/>
              </a:rPr>
              <a:t>« Je veux que mes clients puissent voir où en est leur argent à tout moment, et qu'ils puissent me faire une demande de retrait directement depuis le site — sans m'écrire sur WhatsApp.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— Marc Fontaine, gérant de Nexum Capital, décembre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46120"/>
            <a:ext cx="5394960" cy="1645920"/>
          </a:xfrm>
          <a:prstGeom prst="rect">
            <a:avLst/>
          </a:prstGeom>
          <a:solidFill>
            <a:srgbClr val="1A1A3E"/>
          </a:solidFill>
          <a:ln w="9525">
            <a:solidFill>
              <a:srgbClr val="2A2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3383279"/>
            <a:ext cx="5065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Nexum Capital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749039"/>
            <a:ext cx="506577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• Structure indépendante de gestion active de cryptomonnaies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• Gère les portefeuilles de clients particuliers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• Tout était manuel : tableurs, emails, WhatsApp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3246120"/>
            <a:ext cx="5669280" cy="1645920"/>
          </a:xfrm>
          <a:prstGeom prst="rect">
            <a:avLst/>
          </a:prstGeom>
          <a:solidFill>
            <a:srgbClr val="1A1A3E"/>
          </a:solidFill>
          <a:ln w="9525">
            <a:solidFill>
              <a:srgbClr val="2A2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1" y="3383279"/>
            <a:ext cx="5340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Les limites du manuel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631" y="3749039"/>
            <a:ext cx="534009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• Aucune visibilité temps réel pour les clients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• Demandes de dépôt/retrait désorganisées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• Impossible à tenir avec la croissance du nombre de clients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18CF8"/>
                </a:solidFill>
                <a:latin typeface="Calibri"/>
              </a:rPr>
              <a:t>02 — ÉQUIPE &amp; 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Une mission </a:t>
            </a:r>
            <a:r>
              <a:rPr sz="3800" b="1">
                <a:solidFill>
                  <a:srgbClr val="818CF8"/>
                </a:solidFill>
                <a:latin typeface="Calibri"/>
              </a:rPr>
              <a:t>freelance</a:t>
            </a:r>
            <a:r>
              <a:rPr sz="3800" b="1">
                <a:solidFill>
                  <a:srgbClr val="FFFFFF"/>
                </a:solidFill>
                <a:latin typeface="Calibri"/>
              </a:rPr>
              <a:t> en trio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3749039" cy="2926080"/>
          </a:xfrm>
          <a:prstGeom prst="rect">
            <a:avLst/>
          </a:prstGeom>
          <a:solidFill>
            <a:srgbClr val="1A1A3E"/>
          </a:solidFill>
          <a:ln w="9525">
            <a:solidFill>
              <a:srgbClr val="2A2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19659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2E8F0"/>
                </a:solidFill>
                <a:latin typeface="Calibri"/>
              </a:rPr>
              <a:t>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06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Tom Tournier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718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5B4FC"/>
                </a:solidFill>
                <a:latin typeface="Calibri"/>
              </a:rPr>
              <a:t>Développeur fullstack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918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Architecture, développement backend &amp; frontend, déploiement, maintenance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828800"/>
            <a:ext cx="3749039" cy="2926080"/>
          </a:xfrm>
          <a:prstGeom prst="rect">
            <a:avLst/>
          </a:prstGeom>
          <a:solidFill>
            <a:srgbClr val="1A1A3E"/>
          </a:solidFill>
          <a:ln w="9525">
            <a:solidFill>
              <a:srgbClr val="2A2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19659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2E8F0"/>
                </a:solidFill>
                <a:latin typeface="Calibri"/>
              </a:rPr>
              <a:t>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606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Lucas Bernard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9718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5B4FC"/>
                </a:solidFill>
                <a:latin typeface="Calibri"/>
              </a:rPr>
              <a:t>Designer &amp; intermédiaire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2918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Relation client, identité visuelle, présentation des avancements, collecte des retours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828800"/>
            <a:ext cx="3749039" cy="2926080"/>
          </a:xfrm>
          <a:prstGeom prst="rect">
            <a:avLst/>
          </a:prstGeom>
          <a:solidFill>
            <a:srgbClr val="1A1A3E"/>
          </a:solidFill>
          <a:ln w="9525">
            <a:solidFill>
              <a:srgbClr val="2A2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19659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2E8F0"/>
                </a:solidFill>
                <a:latin typeface="Calibri"/>
              </a:rPr>
              <a:t>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606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Marc Fontaine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9718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5B4FC"/>
                </a:solidFill>
                <a:latin typeface="Calibri"/>
              </a:rPr>
              <a:t>Client — Nexum Capital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2918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Expression du besoin, validation des livrables, décisions fonctionnelles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937760"/>
            <a:ext cx="11247120" cy="594360"/>
          </a:xfrm>
          <a:prstGeom prst="rect">
            <a:avLst/>
          </a:prstGeom>
          <a:solidFill>
            <a:srgbClr val="1A1A3E"/>
          </a:solidFill>
          <a:ln w="9525">
            <a:solidFill>
              <a:srgbClr val="2A2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2E8F0"/>
                </a:solidFill>
                <a:latin typeface="Calibri"/>
              </a:rPr>
              <a:t>Mission : Décembre 2025 → Avril 2026   ·   5 mois   ·   Prestation freelance sur-mesure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18CF8"/>
                </a:solidFill>
                <a:latin typeface="Calibri"/>
              </a:rPr>
              <a:t>03 —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Centralink en </a:t>
            </a:r>
            <a:r>
              <a:rPr sz="3800" b="1">
                <a:solidFill>
                  <a:srgbClr val="818CF8"/>
                </a:solidFill>
                <a:latin typeface="Calibri"/>
              </a:rPr>
              <a:t>3 piliers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3749039" cy="1828800"/>
          </a:xfrm>
          <a:prstGeom prst="rect">
            <a:avLst/>
          </a:prstGeom>
          <a:solidFill>
            <a:srgbClr val="1A1A3E"/>
          </a:solidFill>
          <a:ln w="9525">
            <a:solidFill>
              <a:srgbClr val="2A2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385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E2E8F0"/>
                </a:solidFill>
                <a:latin typeface="Calibri"/>
              </a:rP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9659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Espace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3429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Tableau de bord personnalisé, suivi P&amp;L en temps réel, historique des demandes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828800"/>
            <a:ext cx="3749039" cy="1828800"/>
          </a:xfrm>
          <a:prstGeom prst="rect">
            <a:avLst/>
          </a:prstGeom>
          <a:solidFill>
            <a:srgbClr val="1A1A3E"/>
          </a:solidFill>
          <a:ln w="9525">
            <a:solidFill>
              <a:srgbClr val="2A2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385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E2E8F0"/>
                </a:solidFill>
                <a:latin typeface="Calibri"/>
              </a:rPr>
              <a:t>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59" y="19659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Dépôts &amp; retraits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23160"/>
            <a:ext cx="3429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Demandes de dépôt et retrait crypto (BTC, ETH, USDC, USDT) avec workflow de validation admin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828800"/>
            <a:ext cx="3749039" cy="1828800"/>
          </a:xfrm>
          <a:prstGeom prst="rect">
            <a:avLst/>
          </a:prstGeom>
          <a:solidFill>
            <a:srgbClr val="1A1A3E"/>
          </a:solidFill>
          <a:ln w="9525">
            <a:solidFill>
              <a:srgbClr val="2A2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19" y="19385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E2E8F0"/>
                </a:solidFill>
                <a:latin typeface="Calibri"/>
              </a:rPr>
              <a:t>⚙️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19659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Back-office 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9" y="2423160"/>
            <a:ext cx="3429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Interface de gestion complète : transactions, demandes, utilisateurs — tout validé par l'admin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86200"/>
            <a:ext cx="2651760" cy="1371600"/>
          </a:xfrm>
          <a:prstGeom prst="rect">
            <a:avLst/>
          </a:prstGeom>
          <a:solidFill>
            <a:srgbClr val="1A1A3E"/>
          </a:solidFill>
          <a:ln w="9525">
            <a:solidFill>
              <a:srgbClr val="2A2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0690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818CF8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09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cryptomonnaies
BTC · ETH · USDC · USDT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3886200"/>
            <a:ext cx="2651760" cy="1371600"/>
          </a:xfrm>
          <a:prstGeom prst="rect">
            <a:avLst/>
          </a:prstGeom>
          <a:solidFill>
            <a:srgbClr val="1A1A3E"/>
          </a:solidFill>
          <a:ln w="9525">
            <a:solidFill>
              <a:srgbClr val="2A2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40690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818CF8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709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niveaux d'accès
Client · Administrateur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3886200"/>
            <a:ext cx="2651760" cy="1371600"/>
          </a:xfrm>
          <a:prstGeom prst="rect">
            <a:avLst/>
          </a:prstGeom>
          <a:solidFill>
            <a:srgbClr val="1A1A3E"/>
          </a:solidFill>
          <a:ln w="9525">
            <a:solidFill>
              <a:srgbClr val="2A2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40690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818CF8"/>
                </a:solidFill>
                <a:latin typeface="Calibri"/>
              </a:rPr>
              <a:t>12/12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709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fonctionnalités
livrées sur 12 définies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18CF8"/>
                </a:solidFill>
                <a:latin typeface="Calibri"/>
              </a:rPr>
              <a:t>04 — STACK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Les technologies </a:t>
            </a:r>
            <a:r>
              <a:rPr sz="3800" b="1">
                <a:solidFill>
                  <a:srgbClr val="818CF8"/>
                </a:solidFill>
                <a:latin typeface="Calibri"/>
              </a:rPr>
              <a:t>choisies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74519"/>
            <a:ext cx="5669280" cy="1371600"/>
          </a:xfrm>
          <a:prstGeom prst="rect">
            <a:avLst/>
          </a:prstGeom>
          <a:solidFill>
            <a:srgbClr val="1A1A3E"/>
          </a:solidFill>
          <a:ln w="9525">
            <a:solidFill>
              <a:srgbClr val="2A2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9842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0"/>
                </a:solidFill>
                <a:latin typeface="Calibri"/>
              </a:rPr>
              <a:t>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9842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Symfony 8.0 · PHP 8.4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2313432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Framework MVC backend — routing, sécurité, formulaires, 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74519"/>
            <a:ext cx="5669280" cy="1371600"/>
          </a:xfrm>
          <a:prstGeom prst="rect">
            <a:avLst/>
          </a:prstGeom>
          <a:solidFill>
            <a:srgbClr val="1A1A3E"/>
          </a:solidFill>
          <a:ln w="9525">
            <a:solidFill>
              <a:srgbClr val="2A2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9842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0"/>
                </a:solidFill>
                <a:latin typeface="Calibri"/>
              </a:rPr>
              <a:t>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9168" y="19842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PostgreSQL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9168" y="2313432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Base de données relationnelle avec DECIMAL(18,8) pour la précision financière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83279"/>
            <a:ext cx="5669280" cy="1371600"/>
          </a:xfrm>
          <a:prstGeom prst="rect">
            <a:avLst/>
          </a:prstGeom>
          <a:solidFill>
            <a:srgbClr val="1A1A3E"/>
          </a:solidFill>
          <a:ln w="9525">
            <a:solidFill>
              <a:srgbClr val="2A2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4930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0"/>
                </a:solidFill>
                <a:latin typeface="Calibri"/>
              </a:rPr>
              <a:t>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4930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Twig + Stimulus.js + Turbo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822191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Templates server-side, navigation fluide sans rechargement (Hotwire)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383279"/>
            <a:ext cx="5669280" cy="1371600"/>
          </a:xfrm>
          <a:prstGeom prst="rect">
            <a:avLst/>
          </a:prstGeom>
          <a:solidFill>
            <a:srgbClr val="1A1A3E"/>
          </a:solidFill>
          <a:ln w="9525">
            <a:solidFill>
              <a:srgbClr val="2A2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34930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0"/>
                </a:solidFill>
                <a:latin typeface="Calibri"/>
              </a:rPr>
              <a:t>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34930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EasyAdmin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3822191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Back-office CRUD généré automatiquement — gain de temps considérable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892040"/>
            <a:ext cx="5669280" cy="1371600"/>
          </a:xfrm>
          <a:prstGeom prst="rect">
            <a:avLst/>
          </a:prstGeom>
          <a:solidFill>
            <a:srgbClr val="1A1A3E"/>
          </a:solidFill>
          <a:ln w="9525">
            <a:solidFill>
              <a:srgbClr val="2A2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0017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0"/>
                </a:solidFill>
                <a:latin typeface="Calibri"/>
              </a:rPr>
              <a:t>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500176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Docker + FrankenPHP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5330952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Conteneurisation complète, portabilité dev/prod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4892040"/>
            <a:ext cx="5669280" cy="1371600"/>
          </a:xfrm>
          <a:prstGeom prst="rect">
            <a:avLst/>
          </a:prstGeom>
          <a:solidFill>
            <a:srgbClr val="1A1A3E"/>
          </a:solidFill>
          <a:ln w="9525">
            <a:solidFill>
              <a:srgbClr val="2A2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50017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0"/>
                </a:solidFill>
                <a:latin typeface="Calibri"/>
              </a:rPr>
              <a:t>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9168" y="500176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Railway (déploiement)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5330952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CI/CD automatique via Nixpacks, PostgreSQL managé, zéro config serveur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18CF8"/>
                </a:solidFill>
                <a:latin typeface="Calibri"/>
              </a:rPr>
              <a:t>05 —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Architecture </a:t>
            </a:r>
            <a:r>
              <a:rPr sz="3800" b="1">
                <a:solidFill>
                  <a:srgbClr val="818CF8"/>
                </a:solidFill>
                <a:latin typeface="Calibri"/>
              </a:rPr>
              <a:t>MVC Symfony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2194560" cy="914400"/>
          </a:xfrm>
          <a:prstGeom prst="rect">
            <a:avLst/>
          </a:prstGeom>
          <a:solidFill>
            <a:srgbClr val="1A1A3E"/>
          </a:solidFill>
          <a:ln w="9525">
            <a:solidFill>
              <a:srgbClr val="2A2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🌐 Navigateur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871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Client / Admin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2011680"/>
            <a:ext cx="2194560" cy="914400"/>
          </a:xfrm>
          <a:prstGeom prst="rect">
            <a:avLst/>
          </a:prstGeom>
          <a:solidFill>
            <a:srgbClr val="1E1E5E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21488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Controller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4871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Symfony Router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2011680"/>
            <a:ext cx="2377440" cy="914400"/>
          </a:xfrm>
          <a:prstGeom prst="rect">
            <a:avLst/>
          </a:prstGeom>
          <a:solidFill>
            <a:srgbClr val="1A1A3E"/>
          </a:solidFill>
          <a:ln w="9525">
            <a:solidFill>
              <a:srgbClr val="2A2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2148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Entity / Repo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4871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Doctrine 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2011680"/>
            <a:ext cx="2194560" cy="914400"/>
          </a:xfrm>
          <a:prstGeom prst="rect">
            <a:avLst/>
          </a:prstGeom>
          <a:solidFill>
            <a:srgbClr val="1A1A3E"/>
          </a:solidFill>
          <a:ln w="9525">
            <a:solidFill>
              <a:srgbClr val="2A2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1488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4871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Base de données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2304288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18CF8"/>
                </a:solidFill>
                <a:latin typeface="Calibr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2304288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18CF8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2712" y="2304288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18CF8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3291840"/>
            <a:ext cx="2194560" cy="731520"/>
          </a:xfrm>
          <a:prstGeom prst="rect">
            <a:avLst/>
          </a:prstGeom>
          <a:solidFill>
            <a:srgbClr val="1A1A3E"/>
          </a:solidFill>
          <a:ln w="9525">
            <a:solidFill>
              <a:srgbClr val="2A2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33832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Twig Template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65760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Rendu HTML → Client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294436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18CF8"/>
                </a:solidFill>
                <a:latin typeface="Calibri"/>
              </a:rPr>
              <a:t>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251960"/>
            <a:ext cx="5486400" cy="1554480"/>
          </a:xfrm>
          <a:prstGeom prst="rect">
            <a:avLst/>
          </a:prstGeom>
          <a:solidFill>
            <a:srgbClr val="1A1A3E"/>
          </a:solidFill>
          <a:ln w="9525">
            <a:solidFill>
              <a:srgbClr val="2A2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4389120"/>
            <a:ext cx="51572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Sécurité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4754880"/>
            <a:ext cx="515721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• Authentification form-login (email + mot de passe haché Bcrypt)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• Rôles : ROLE_USER / ROLE_ADMIN — accès cloisonné par Voter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• Protection CSRF activée sur tous les formulaires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4251960"/>
            <a:ext cx="5577840" cy="1554480"/>
          </a:xfrm>
          <a:prstGeom prst="rect">
            <a:avLst/>
          </a:prstGeom>
          <a:solidFill>
            <a:srgbClr val="1A1A3E"/>
          </a:solidFill>
          <a:ln w="9525">
            <a:solidFill>
              <a:srgbClr val="2A2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1072" y="4389120"/>
            <a:ext cx="524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7 Controllers principaux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1072" y="4754880"/>
            <a:ext cx="524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• HomeController · TransactionController · RequestController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• SecurityController · ApiController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• Admin: DashboardController · TransactionCrud · RequestCrud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18CF8"/>
                </a:solidFill>
                <a:latin typeface="Calibri"/>
              </a:rPr>
              <a:t>06 — BASE DE DONNÉES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Modèle de </a:t>
            </a:r>
            <a:r>
              <a:rPr sz="3800" b="1">
                <a:solidFill>
                  <a:srgbClr val="818CF8"/>
                </a:solidFill>
                <a:latin typeface="Calibri"/>
              </a:rPr>
              <a:t>données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828800"/>
            <a:ext cx="3749039" cy="457200"/>
          </a:xfrm>
          <a:prstGeom prst="rect">
            <a:avLst/>
          </a:prstGeom>
          <a:solidFill>
            <a:srgbClr val="2A2A6E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9019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5B4FC"/>
                </a:solidFill>
                <a:latin typeface="Calibri"/>
              </a:rPr>
              <a:t>👤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331720"/>
            <a:ext cx="3749039" cy="36576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2377439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377439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B4FC"/>
                </a:solidFill>
                <a:latin typeface="Calibri"/>
              </a:rPr>
              <a:t>INT PK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715768"/>
            <a:ext cx="3749039" cy="365760"/>
          </a:xfrm>
          <a:prstGeom prst="rect">
            <a:avLst/>
          </a:prstGeom>
          <a:solidFill>
            <a:srgbClr val="161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2761487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firstName / lastName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761487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B4FC"/>
                </a:solidFill>
                <a:latin typeface="Calibri"/>
              </a:rPr>
              <a:t>VARCHAR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099815"/>
            <a:ext cx="3749039" cy="36576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3145535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email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145535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B4FC"/>
                </a:solidFill>
                <a:latin typeface="Calibri"/>
              </a:rPr>
              <a:t>VARCHAR unique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483863"/>
            <a:ext cx="3749039" cy="365760"/>
          </a:xfrm>
          <a:prstGeom prst="rect">
            <a:avLst/>
          </a:prstGeom>
          <a:solidFill>
            <a:srgbClr val="161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3529583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password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29583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B4FC"/>
                </a:solidFill>
                <a:latin typeface="Calibri"/>
              </a:rPr>
              <a:t>TEXT (bcrypt)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67911"/>
            <a:ext cx="3749039" cy="36576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3913631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roles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913631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B4FC"/>
                </a:solidFill>
                <a:latin typeface="Calibri"/>
              </a:rPr>
              <a:t>JSON[]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33087" y="35204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18CF8"/>
                </a:solidFill>
                <a:latin typeface="Calibri"/>
              </a:rPr>
              <a:t>1:N 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1828800"/>
            <a:ext cx="3749039" cy="457200"/>
          </a:xfrm>
          <a:prstGeom prst="rect">
            <a:avLst/>
          </a:prstGeom>
          <a:solidFill>
            <a:srgbClr val="2A2A6E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19019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5B4FC"/>
                </a:solidFill>
                <a:latin typeface="Calibri"/>
              </a:rPr>
              <a:t>📈 transactions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2331720"/>
            <a:ext cx="3749039" cy="36576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07408" y="2377439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377439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B4FC"/>
                </a:solidFill>
                <a:latin typeface="Calibri"/>
              </a:rPr>
              <a:t>INT PK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2715768"/>
            <a:ext cx="3749039" cy="365760"/>
          </a:xfrm>
          <a:prstGeom prst="rect">
            <a:avLst/>
          </a:prstGeom>
          <a:solidFill>
            <a:srgbClr val="161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07408" y="2761487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user_id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2761487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B4FC"/>
                </a:solidFill>
                <a:latin typeface="Calibri"/>
              </a:rPr>
              <a:t>FK → users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3099815"/>
            <a:ext cx="3749039" cy="36576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07408" y="3145535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cryptoType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145535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B4FC"/>
                </a:solidFill>
                <a:latin typeface="Calibri"/>
              </a:rPr>
              <a:t>BTC/ETH/USDC/USDT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3483863"/>
            <a:ext cx="3749039" cy="365760"/>
          </a:xfrm>
          <a:prstGeom prst="rect">
            <a:avLst/>
          </a:prstGeom>
          <a:solidFill>
            <a:srgbClr val="161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07408" y="3529583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amount / entryPrice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3529583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B4FC"/>
                </a:solidFill>
                <a:latin typeface="Calibri"/>
              </a:rPr>
              <a:t>DECIMAL(18,8)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80" y="3867911"/>
            <a:ext cx="3749039" cy="36576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07408" y="3913631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exitPrice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3913631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B4FC"/>
                </a:solidFill>
                <a:latin typeface="Calibri"/>
              </a:rPr>
              <a:t>DECIMAL nullable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7680" y="4251960"/>
            <a:ext cx="3749039" cy="365760"/>
          </a:xfrm>
          <a:prstGeom prst="rect">
            <a:avLst/>
          </a:prstGeom>
          <a:solidFill>
            <a:srgbClr val="161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07408" y="429768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isValidated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4297680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B4FC"/>
                </a:solidFill>
                <a:latin typeface="Calibri"/>
              </a:rPr>
              <a:t>BOOLEAN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65008" y="35204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18CF8"/>
                </a:solidFill>
                <a:latin typeface="Calibri"/>
              </a:rPr>
              <a:t>1:N 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1828800"/>
            <a:ext cx="3749039" cy="457200"/>
          </a:xfrm>
          <a:prstGeom prst="rect">
            <a:avLst/>
          </a:prstGeom>
          <a:solidFill>
            <a:srgbClr val="2A2A6E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66760" y="19019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5B4FC"/>
                </a:solidFill>
                <a:latin typeface="Calibri"/>
              </a:rPr>
              <a:t>🔁 requests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0" y="2331720"/>
            <a:ext cx="3749039" cy="36576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39327" y="2377439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7040" y="2377439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B4FC"/>
                </a:solidFill>
                <a:latin typeface="Calibri"/>
              </a:rPr>
              <a:t>INT PK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600" y="2715768"/>
            <a:ext cx="3749039" cy="365760"/>
          </a:xfrm>
          <a:prstGeom prst="rect">
            <a:avLst/>
          </a:prstGeom>
          <a:solidFill>
            <a:srgbClr val="161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9327" y="2761487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user_id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07040" y="2761487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B4FC"/>
                </a:solidFill>
                <a:latin typeface="Calibri"/>
              </a:rPr>
              <a:t>FK → users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9600" y="3099815"/>
            <a:ext cx="3749039" cy="36576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39327" y="3145535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type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07040" y="3145535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B4FC"/>
                </a:solidFill>
                <a:latin typeface="Calibri"/>
              </a:rPr>
              <a:t>DEPOSIT / WITHDRAWAL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600" y="3483863"/>
            <a:ext cx="3749039" cy="365760"/>
          </a:xfrm>
          <a:prstGeom prst="rect">
            <a:avLst/>
          </a:prstGeom>
          <a:solidFill>
            <a:srgbClr val="161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39327" y="3529583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cryptoType / amount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07040" y="3529583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B4FC"/>
                </a:solidFill>
                <a:latin typeface="Calibri"/>
              </a:rPr>
              <a:t>DECIMAL(18,8)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29600" y="3867911"/>
            <a:ext cx="3749039" cy="36576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39327" y="3913631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publicAddress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07040" y="3913631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B4FC"/>
                </a:solidFill>
                <a:latin typeface="Calibri"/>
              </a:rPr>
              <a:t>VARCHAR nullable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29600" y="4251960"/>
            <a:ext cx="3749039" cy="365760"/>
          </a:xfrm>
          <a:prstGeom prst="rect">
            <a:avLst/>
          </a:prstGeom>
          <a:solidFill>
            <a:srgbClr val="161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39327" y="429768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isValidated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607040" y="4297680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B4FC"/>
                </a:solidFill>
                <a:latin typeface="Calibri"/>
              </a:rPr>
              <a:t>BOOLEAN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5074920"/>
            <a:ext cx="11430000" cy="685800"/>
          </a:xfrm>
          <a:prstGeom prst="rect">
            <a:avLst/>
          </a:prstGeom>
          <a:solidFill>
            <a:srgbClr val="151535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65760" y="5074920"/>
            <a:ext cx="54864" cy="685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" y="51663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5B4FC"/>
                </a:solidFill>
                <a:latin typeface="Calibri"/>
              </a:rPr>
              <a:t>Solde disponible = Total dépôts validés − Total retraits validés + P&amp;L cumulatif (positions clôturées)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18CF8"/>
                </a:solidFill>
                <a:latin typeface="Calibri"/>
              </a:rPr>
              <a:t>07 — FONCTIONNALITÉS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Espace </a:t>
            </a:r>
            <a:r>
              <a:rPr sz="3800" b="1">
                <a:solidFill>
                  <a:srgbClr val="818CF8"/>
                </a:solidFill>
                <a:latin typeface="Calibri"/>
              </a:rPr>
              <a:t>client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976119"/>
            <a:ext cx="237744" cy="237744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874519"/>
            <a:ext cx="4114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Tableau de bord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176272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Solde disponible, total dépôts, total retraits, P&amp;L global, nombre de transactions actives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87752"/>
            <a:ext cx="11247120" cy="13716"/>
          </a:xfrm>
          <a:prstGeom prst="rect">
            <a:avLst/>
          </a:prstGeom>
          <a:solidFill>
            <a:srgbClr val="20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2780791"/>
            <a:ext cx="237744" cy="237744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679191"/>
            <a:ext cx="4114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Graphique P&amp;L cumulatif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980944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Courbe d'évolution du profit/perte dans le temps, calculée sur toutes les positions clôturées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92424"/>
            <a:ext cx="11247120" cy="13716"/>
          </a:xfrm>
          <a:prstGeom prst="rect">
            <a:avLst/>
          </a:prstGeom>
          <a:solidFill>
            <a:srgbClr val="20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" y="3585463"/>
            <a:ext cx="237744" cy="237744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483863"/>
            <a:ext cx="4114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Demandes de dépôt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785615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Formulaire avec choix du type de crypto (BTC, ETH, USDC, USDT) et du montant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97096"/>
            <a:ext cx="11247120" cy="13716"/>
          </a:xfrm>
          <a:prstGeom prst="rect">
            <a:avLst/>
          </a:prstGeom>
          <a:solidFill>
            <a:srgbClr val="20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4390136"/>
            <a:ext cx="237744" cy="237744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288536"/>
            <a:ext cx="4114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Demandes de retrait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5902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Saisie de l'adresse de wallet publique — prise en charge des 4 cryptomonnaies supportées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001768"/>
            <a:ext cx="11247120" cy="13716"/>
          </a:xfrm>
          <a:prstGeom prst="rect">
            <a:avLst/>
          </a:prstGeom>
          <a:solidFill>
            <a:srgbClr val="20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7200" y="5194808"/>
            <a:ext cx="237744" cy="237744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5093208"/>
            <a:ext cx="4114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Historique complet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539496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Liste des demandes et transactions avec statut (en attente / validée) et date de validation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806440"/>
            <a:ext cx="11247120" cy="13716"/>
          </a:xfrm>
          <a:prstGeom prst="rect">
            <a:avLst/>
          </a:prstGeom>
          <a:solidFill>
            <a:srgbClr val="20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5999480"/>
            <a:ext cx="237744" cy="237744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5897880"/>
            <a:ext cx="4114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Inscription &amp; connexion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6199632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Formulaire sécurisé, mot de passe haché Bcrypt, validation de la complexité du mot de passe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18CF8"/>
                </a:solidFill>
                <a:latin typeface="Calibri"/>
              </a:rPr>
              <a:t>07 — FONCTIONNALITÉS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Back-office </a:t>
            </a:r>
            <a:r>
              <a:rPr sz="3800" b="1">
                <a:solidFill>
                  <a:srgbClr val="818CF8"/>
                </a:solidFill>
                <a:latin typeface="Calibri"/>
              </a:rPr>
              <a:t>administrateur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976119"/>
            <a:ext cx="237744" cy="237744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874519"/>
            <a:ext cx="10881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Interface EasyAdmin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17627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Dashboard admin avec accès rapide aux entités — compteur de demandes en attente visible en permanence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79191"/>
            <a:ext cx="11247120" cy="13716"/>
          </a:xfrm>
          <a:prstGeom prst="rect">
            <a:avLst/>
          </a:prstGeom>
          <a:solidFill>
            <a:srgbClr val="20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2872232"/>
            <a:ext cx="237744" cy="237744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770632"/>
            <a:ext cx="10881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Gestion des transactions de trading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072384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Création, modification, clôture de positions. Saisie du prix d'entrée/sortie, montant, crypto, date — P&amp;L calculé auto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75303"/>
            <a:ext cx="11247120" cy="13716"/>
          </a:xfrm>
          <a:prstGeom prst="rect">
            <a:avLst/>
          </a:prstGeom>
          <a:solidFill>
            <a:srgbClr val="20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" y="3768344"/>
            <a:ext cx="237744" cy="237744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666744"/>
            <a:ext cx="10881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Validation des demandes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968496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L'admin valide ou rejette les dépôts et retraits. La date de validation est enregistrée automatiquement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471416"/>
            <a:ext cx="11247120" cy="13716"/>
          </a:xfrm>
          <a:prstGeom prst="rect">
            <a:avLst/>
          </a:prstGeom>
          <a:solidFill>
            <a:srgbClr val="20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4664456"/>
            <a:ext cx="237744" cy="237744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562856"/>
            <a:ext cx="10881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Gestion des utilisateurs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86460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Liste, création, modification des comptes. Attribution des rôles via interface ou commande CLI app:promote-user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367528"/>
            <a:ext cx="11247120" cy="13716"/>
          </a:xfrm>
          <a:prstGeom prst="rect">
            <a:avLst/>
          </a:prstGeom>
          <a:solidFill>
            <a:srgbClr val="20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7200" y="5560568"/>
            <a:ext cx="237744" cy="237744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5458968"/>
            <a:ext cx="10881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Endpoint API 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576072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Route dédiée retournant les données de l'utilisateur connecté au format JSON, pour intégration future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18CF8"/>
                </a:solidFill>
                <a:latin typeface="Calibri"/>
              </a:rPr>
              <a:t>08 — GESTION DE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Planning &amp; </a:t>
            </a:r>
            <a:r>
              <a:rPr sz="3800" b="1">
                <a:solidFill>
                  <a:srgbClr val="818CF8"/>
                </a:solidFill>
                <a:latin typeface="Calibri"/>
              </a:rPr>
              <a:t>méthodologie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925319"/>
            <a:ext cx="164592" cy="16459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5780" y="2075688"/>
            <a:ext cx="27432" cy="914400"/>
          </a:xfrm>
          <a:prstGeom prst="rect">
            <a:avLst/>
          </a:prstGeom>
          <a:solidFill>
            <a:srgbClr val="2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18CF8"/>
                </a:solidFill>
                <a:latin typeface="Calibri"/>
              </a:rPr>
              <a:t>Déc.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30552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Cadrage &amp; initialisation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0487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Recueil du besoin, modélisation BDD, setup Symfony + PostgreSQL, premières migrations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022600"/>
            <a:ext cx="164592" cy="16459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5780" y="3172968"/>
            <a:ext cx="27432" cy="914400"/>
          </a:xfrm>
          <a:prstGeom prst="rect">
            <a:avLst/>
          </a:prstGeom>
          <a:solidFill>
            <a:srgbClr val="2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18CF8"/>
                </a:solidFill>
                <a:latin typeface="Calibri"/>
              </a:rPr>
              <a:t>Jan.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27832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Socle fonctionnel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0215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Auth, rôles, EasyAdmin, module transactions &amp; demandes — 1ère démo client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4119879"/>
            <a:ext cx="164592" cy="16459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5780" y="4270247"/>
            <a:ext cx="27432" cy="914400"/>
          </a:xfrm>
          <a:prstGeom prst="rect">
            <a:avLst/>
          </a:prstGeom>
          <a:solidFill>
            <a:srgbClr val="2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69079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18CF8"/>
                </a:solidFill>
                <a:latin typeface="Calibri"/>
              </a:rPr>
              <a:t>Fév.–Mars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25112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Interface client &amp; affinement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99431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Dashboard, graphique P&amp;L, retours client, endpoint API, ajustements UI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5217159"/>
            <a:ext cx="164592" cy="16459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166359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18CF8"/>
                </a:solidFill>
                <a:latin typeface="Calibri"/>
              </a:rPr>
              <a:t>Avril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422392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Livraison &amp; déploiement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69671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Railway, tests production, Dockerisation, livraison finale au client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874519"/>
            <a:ext cx="5303520" cy="1417320"/>
          </a:xfrm>
          <a:prstGeom prst="rect">
            <a:avLst/>
          </a:prstGeom>
          <a:solidFill>
            <a:srgbClr val="1A1A3E"/>
          </a:solidFill>
          <a:ln w="9525">
            <a:solidFill>
              <a:srgbClr val="2A2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201167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Méthodologie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2377439"/>
            <a:ext cx="49743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• Approche itérative légère — cycles de 2 à 3 semaines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• Chaque itération : version déployée présentable au client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• Démonstration mensuelle avec Marc Fontaine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429000"/>
            <a:ext cx="5303520" cy="1508760"/>
          </a:xfrm>
          <a:prstGeom prst="rect">
            <a:avLst/>
          </a:prstGeom>
          <a:solidFill>
            <a:srgbClr val="1A1A3E"/>
          </a:solidFill>
          <a:ln w="9525">
            <a:solidFill>
              <a:srgbClr val="2A2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3566160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Outils de gestion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3931920"/>
            <a:ext cx="497433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• Trello — suivi des tâches (Backlog / En cours / Révision / Terminé)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• GitHub — versionning, branche staging pour les développements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• WhatsApp — coordination Tom ↔ Lucas au quotidien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5029200"/>
            <a:ext cx="5303520" cy="1463040"/>
          </a:xfrm>
          <a:prstGeom prst="rect">
            <a:avLst/>
          </a:prstGeom>
          <a:solidFill>
            <a:srgbClr val="1A1A3E"/>
          </a:solidFill>
          <a:ln w="9525">
            <a:solidFill>
              <a:srgbClr val="2A2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65392" y="5166360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Communication client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5392" y="5532120"/>
            <a:ext cx="49743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• Tom ↔ Lucas : Trello + WhatsApp quotidien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• Lucas ↔ Marc : présentation toutes les 2 semaines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• Appel de validation mensuel à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18CF8"/>
                </a:solidFill>
                <a:latin typeface="Calibri"/>
              </a:rPr>
              <a:t>09 —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Déploiement &amp; </a:t>
            </a:r>
            <a:r>
              <a:rPr sz="3800" b="1">
                <a:solidFill>
                  <a:srgbClr val="818CF8"/>
                </a:solidFill>
                <a:latin typeface="Calibri"/>
              </a:rPr>
              <a:t>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74519"/>
            <a:ext cx="5486400" cy="2011680"/>
          </a:xfrm>
          <a:prstGeom prst="rect">
            <a:avLst/>
          </a:prstGeom>
          <a:solidFill>
            <a:srgbClr val="1A1A3E"/>
          </a:solidFill>
          <a:ln w="9525">
            <a:solidFill>
              <a:srgbClr val="2A2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2011679"/>
            <a:ext cx="51572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🚂  Production — Railway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377439"/>
            <a:ext cx="515721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• Build automatique via Nixpacks depuis le dépôt Git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• PostgreSQL 16 managé (Railway) — aucune gestion serveur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• Script start.sh : migrations automatiques + démarrage FrankenPHP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• URL publique disponible dès le push sur la branche principale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874519"/>
            <a:ext cx="5577840" cy="2011680"/>
          </a:xfrm>
          <a:prstGeom prst="rect">
            <a:avLst/>
          </a:prstGeom>
          <a:solidFill>
            <a:srgbClr val="1A1A3E"/>
          </a:solidFill>
          <a:ln w="9525">
            <a:solidFill>
              <a:srgbClr val="2A2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91072" y="2011679"/>
            <a:ext cx="524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🐋  Local / Développement — Docker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91072" y="2377439"/>
            <a:ext cx="524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• 2 services : app (FrankenPHP Alpine) + db (PostgreSQL 16)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• Migrations exécutées au démarrage automatiquement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• Accessible sur http://localhost:8000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• Reproductible sur n'importe quelle machine — zéro config manuelle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069080"/>
            <a:ext cx="11247120" cy="777240"/>
          </a:xfrm>
          <a:prstGeom prst="rect">
            <a:avLst/>
          </a:prstGeom>
          <a:solidFill>
            <a:srgbClr val="10102A"/>
          </a:solidFill>
          <a:ln w="9525">
            <a:solidFill>
              <a:srgbClr val="2A2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13308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Lancer en local 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0740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5B4FC"/>
                </a:solidFill>
                <a:latin typeface="Calibri"/>
              </a:rPr>
              <a:t>git clone https://github.com/Centralink87/centralinkxyz  →  cd centralinkxyz  →  docker compose up --build  →  localhost:8000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029200"/>
            <a:ext cx="11247120" cy="594360"/>
          </a:xfrm>
          <a:prstGeom prst="rect">
            <a:avLst/>
          </a:prstGeom>
          <a:solidFill>
            <a:srgbClr val="1A1A3E"/>
          </a:solidFill>
          <a:ln w="9525">
            <a:solidFill>
              <a:srgbClr val="2A2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1023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GitHub 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510235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18CF8"/>
                </a:solidFill>
                <a:latin typeface="Calibri"/>
              </a:rPr>
              <a:t>https://github.com/Centralink87/centralinkxyz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18CF8"/>
                </a:solidFill>
                <a:latin typeface="Calibri"/>
              </a:rPr>
              <a:t>10 — BILAN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Ce que j'ai </a:t>
            </a:r>
            <a:r>
              <a:rPr sz="3800" b="1">
                <a:solidFill>
                  <a:srgbClr val="818CF8"/>
                </a:solidFill>
                <a:latin typeface="Calibri"/>
              </a:rPr>
              <a:t>appris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3657600" cy="2286000"/>
          </a:xfrm>
          <a:prstGeom prst="rect">
            <a:avLst/>
          </a:prstGeom>
          <a:solidFill>
            <a:srgbClr val="1A1A3E"/>
          </a:solidFill>
          <a:ln w="9525">
            <a:solidFill>
              <a:srgbClr val="2A2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965960"/>
            <a:ext cx="3328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Technique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331720"/>
            <a:ext cx="332841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• Maîtrise de Symfony 8 en conditions de projet réel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• ORM Doctrine complet avec migrations et lifecycle hooks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• Conteneurisation Docker + CI/CD Railway automatisé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• Calcul financier côté serveur (précision DECIMAL 18,8)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828800"/>
            <a:ext cx="3657600" cy="2286000"/>
          </a:xfrm>
          <a:prstGeom prst="rect">
            <a:avLst/>
          </a:prstGeom>
          <a:solidFill>
            <a:srgbClr val="1A1A3E"/>
          </a:solidFill>
          <a:ln w="9525">
            <a:solidFill>
              <a:srgbClr val="2A2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62272" y="1965960"/>
            <a:ext cx="3328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Organisation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62272" y="2331720"/>
            <a:ext cx="332841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• Travailler en binôme développeur / designer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• Itérations courtes avec validation client régulière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• Gérer les retours et demandes de changement en cours de route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• Documenter pour une livraison professionnelle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828800"/>
            <a:ext cx="3657600" cy="2286000"/>
          </a:xfrm>
          <a:prstGeom prst="rect">
            <a:avLst/>
          </a:prstGeom>
          <a:solidFill>
            <a:srgbClr val="1A1A3E"/>
          </a:solidFill>
          <a:ln w="9525">
            <a:solidFill>
              <a:srgbClr val="2A2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965960"/>
            <a:ext cx="3328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Client &amp; projet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331720"/>
            <a:ext cx="332841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• Reformuler un besoin flou en spécifications claires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• Prioriser le MVP face aux souhaits ambitieux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• Livrer une solution complète en 5 mois en freelance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• Gérer la relation client via un intermédiaire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343400"/>
            <a:ext cx="2743200" cy="1463040"/>
          </a:xfrm>
          <a:prstGeom prst="rect">
            <a:avLst/>
          </a:prstGeom>
          <a:solidFill>
            <a:srgbClr val="1A1A3E"/>
          </a:solidFill>
          <a:ln w="9525">
            <a:solidFill>
              <a:srgbClr val="2A2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5262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818CF8"/>
                </a:solidFill>
                <a:latin typeface="Calibri"/>
              </a:rPr>
              <a:t>5 mois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166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de développement
Déc. 2025 → Avr.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2424" y="4343400"/>
            <a:ext cx="2743200" cy="1463040"/>
          </a:xfrm>
          <a:prstGeom prst="rect">
            <a:avLst/>
          </a:prstGeom>
          <a:solidFill>
            <a:srgbClr val="1A1A3E"/>
          </a:solidFill>
          <a:ln w="9525">
            <a:solidFill>
              <a:srgbClr val="2A2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92424" y="45262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818CF8"/>
                </a:solidFill>
                <a:latin typeface="Calibri"/>
              </a:rPr>
              <a:t>12 /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92424" y="5166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fonctionnalités
livrées au cahier des charges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27648" y="4343400"/>
            <a:ext cx="2743200" cy="1463040"/>
          </a:xfrm>
          <a:prstGeom prst="rect">
            <a:avLst/>
          </a:prstGeom>
          <a:solidFill>
            <a:srgbClr val="1A1A3E"/>
          </a:solidFill>
          <a:ln w="9525">
            <a:solidFill>
              <a:srgbClr val="2A2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45262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818CF8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5166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entités · 7 controllers
16 templates Twig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62872" y="4343400"/>
            <a:ext cx="2743200" cy="1463040"/>
          </a:xfrm>
          <a:prstGeom prst="rect">
            <a:avLst/>
          </a:prstGeom>
          <a:solidFill>
            <a:srgbClr val="1A1A3E"/>
          </a:solidFill>
          <a:ln w="9525">
            <a:solidFill>
              <a:srgbClr val="2A2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2872" y="45262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818CF8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5166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client satisfait
Nexum Capital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0" y="0"/>
            <a:ext cx="5056632" cy="6858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2980944" cy="292608"/>
          </a:xfrm>
          <a:prstGeom prst="rect">
            <a:avLst/>
          </a:prstGeom>
          <a:solidFill>
            <a:srgbClr val="1A1A4E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33856"/>
            <a:ext cx="27614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A5B4FC"/>
                </a:solidFill>
                <a:latin typeface="Calibri"/>
              </a:rPr>
              <a:t>Merci pour votre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Questions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Je suis disponible pour toute question sur le projet,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les choix techniques ou la gestion de la mission.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160520"/>
            <a:ext cx="54864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3891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75569"/>
                </a:solidFill>
                <a:latin typeface="Calibri"/>
              </a:rPr>
              <a:t>DÉVELOPPEUR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1772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  <a:latin typeface="Calibri"/>
              </a:rPr>
              <a:t>Tom Tournier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834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75569"/>
                </a:solidFill>
                <a:latin typeface="Calibri"/>
              </a:rPr>
              <a:t>PROJET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1208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  <a:latin typeface="Calibri"/>
              </a:rPr>
              <a:t>Centralink — Nexum Capital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5778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75569"/>
                </a:solidFill>
                <a:latin typeface="Calibri"/>
              </a:rPr>
              <a:t>GITHUB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80644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  <a:latin typeface="Calibri"/>
              </a:rPr>
              <a:t>Centralink87/centralinkxyz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